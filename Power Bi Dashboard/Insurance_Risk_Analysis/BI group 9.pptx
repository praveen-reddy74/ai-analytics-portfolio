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67" r:id="rId3"/>
    <p:sldId id="268" r:id="rId4"/>
    <p:sldId id="260" r:id="rId5"/>
    <p:sldId id="262" r:id="rId6"/>
    <p:sldId id="261" r:id="rId7"/>
    <p:sldId id="264" r:id="rId8"/>
    <p:sldId id="265"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BC0C36-9303-4F30-AA07-CF8909EC94DE}" type="datetimeFigureOut">
              <a:rPr lang="en-IN" smtClean="0"/>
              <a:t>02-10-2025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199AF2-14DC-47D7-87D5-1D3BE95F694B}" type="slidenum">
              <a:rPr lang="en-IN" smtClean="0"/>
              <a:t>‹#›</a:t>
            </a:fld>
            <a:endParaRPr lang="en-IN"/>
          </a:p>
        </p:txBody>
      </p:sp>
    </p:spTree>
    <p:extLst>
      <p:ext uri="{BB962C8B-B14F-4D97-AF65-F5344CB8AC3E}">
        <p14:creationId xmlns:p14="http://schemas.microsoft.com/office/powerpoint/2010/main" val="3798428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Image source: Microsoft 365 content library
This dataset features 1,000 rows, each representing a unique customer and incident report, with 39 columns detailing policy, demographic, and claim information. Key data includes policy/customer details, incident specifics, claims, vehicle data, and a fraud label. The primary focus is to detect fraudulent activity in auto-insurance claims, linking all relevant information per case.</a:t>
            </a:r>
          </a:p>
        </p:txBody>
      </p:sp>
      <p:sp>
        <p:nvSpPr>
          <p:cNvPr id="4" name="Slide Number Placeholder 3"/>
          <p:cNvSpPr>
            <a:spLocks noGrp="1"/>
          </p:cNvSpPr>
          <p:nvPr>
            <p:ph type="sldNum" sz="quarter" idx="5"/>
          </p:nvPr>
        </p:nvSpPr>
        <p:spPr/>
        <p:txBody>
          <a:bodyPr/>
          <a:lstStyle/>
          <a:p>
            <a:fld id="{6A085F3F-E213-4B6D-BF71-47462A34B33C}" type="slidenum">
              <a:rPr lang="en-IN" smtClean="0"/>
              <a:t>1</a:t>
            </a:fld>
            <a:endParaRPr lang="en-IN"/>
          </a:p>
        </p:txBody>
      </p:sp>
    </p:spTree>
    <p:extLst>
      <p:ext uri="{BB962C8B-B14F-4D97-AF65-F5344CB8AC3E}">
        <p14:creationId xmlns:p14="http://schemas.microsoft.com/office/powerpoint/2010/main" val="4173029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EEDAB-03E3-8BE7-56C4-2277120D0D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4FCEA6-D838-5614-04CC-2EB0C130D6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B312F50-6C57-C502-CC90-5562A6CDE735}"/>
              </a:ext>
            </a:extLst>
          </p:cNvPr>
          <p:cNvSpPr>
            <a:spLocks noGrp="1"/>
          </p:cNvSpPr>
          <p:nvPr>
            <p:ph type="dt" sz="half" idx="10"/>
          </p:nvPr>
        </p:nvSpPr>
        <p:spPr/>
        <p:txBody>
          <a:bodyPr/>
          <a:lstStyle/>
          <a:p>
            <a:fld id="{C6E42C4B-F57B-4E35-9F16-F2776097F99C}" type="datetimeFigureOut">
              <a:rPr lang="en-IN" smtClean="0"/>
              <a:t>02-10-2025</a:t>
            </a:fld>
            <a:endParaRPr lang="en-IN"/>
          </a:p>
        </p:txBody>
      </p:sp>
      <p:sp>
        <p:nvSpPr>
          <p:cNvPr id="5" name="Footer Placeholder 4">
            <a:extLst>
              <a:ext uri="{FF2B5EF4-FFF2-40B4-BE49-F238E27FC236}">
                <a16:creationId xmlns:a16="http://schemas.microsoft.com/office/drawing/2014/main" id="{8A878B8D-B1DB-5931-2BF1-E04CFF32E2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357AAF-377B-012A-F672-EA60DBD20714}"/>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4230241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CDEAA-C7A4-D18E-06EA-279DBD11F1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2D8FED-6D89-5630-C92A-A004AAC705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668E05-7344-DD34-4EE8-B56B58905C59}"/>
              </a:ext>
            </a:extLst>
          </p:cNvPr>
          <p:cNvSpPr>
            <a:spLocks noGrp="1"/>
          </p:cNvSpPr>
          <p:nvPr>
            <p:ph type="dt" sz="half" idx="10"/>
          </p:nvPr>
        </p:nvSpPr>
        <p:spPr/>
        <p:txBody>
          <a:bodyPr/>
          <a:lstStyle/>
          <a:p>
            <a:fld id="{C6E42C4B-F57B-4E35-9F16-F2776097F99C}" type="datetimeFigureOut">
              <a:rPr lang="en-IN" smtClean="0"/>
              <a:t>02-10-2025</a:t>
            </a:fld>
            <a:endParaRPr lang="en-IN"/>
          </a:p>
        </p:txBody>
      </p:sp>
      <p:sp>
        <p:nvSpPr>
          <p:cNvPr id="5" name="Footer Placeholder 4">
            <a:extLst>
              <a:ext uri="{FF2B5EF4-FFF2-40B4-BE49-F238E27FC236}">
                <a16:creationId xmlns:a16="http://schemas.microsoft.com/office/drawing/2014/main" id="{A8DFF331-BA8A-1432-0777-94C5034C9E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F69FE5-8342-0023-751C-EE9DEFF405A7}"/>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687733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6270C-139E-093C-324F-49A49DA5FA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49FAC6B-0888-41C3-BF79-9D32E00546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6C9199-A292-88F8-DB01-290B6868D46D}"/>
              </a:ext>
            </a:extLst>
          </p:cNvPr>
          <p:cNvSpPr>
            <a:spLocks noGrp="1"/>
          </p:cNvSpPr>
          <p:nvPr>
            <p:ph type="dt" sz="half" idx="10"/>
          </p:nvPr>
        </p:nvSpPr>
        <p:spPr/>
        <p:txBody>
          <a:bodyPr/>
          <a:lstStyle/>
          <a:p>
            <a:fld id="{C6E42C4B-F57B-4E35-9F16-F2776097F99C}" type="datetimeFigureOut">
              <a:rPr lang="en-IN" smtClean="0"/>
              <a:t>02-10-2025</a:t>
            </a:fld>
            <a:endParaRPr lang="en-IN"/>
          </a:p>
        </p:txBody>
      </p:sp>
      <p:sp>
        <p:nvSpPr>
          <p:cNvPr id="5" name="Footer Placeholder 4">
            <a:extLst>
              <a:ext uri="{FF2B5EF4-FFF2-40B4-BE49-F238E27FC236}">
                <a16:creationId xmlns:a16="http://schemas.microsoft.com/office/drawing/2014/main" id="{58BAB5E4-5A06-2CB3-A2F0-6C90A61A1B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2AA828-3280-1767-92B3-6114A015BCA4}"/>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89513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63BD6-438B-8DD9-1B7C-BC1D731804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B6584A-13F6-AFF8-290B-859171C38C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582DAF4-DBBB-6DCD-2C98-9EF4DD2FA7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A83DEFF-860A-0C57-DC01-980A3CB2843B}"/>
              </a:ext>
            </a:extLst>
          </p:cNvPr>
          <p:cNvSpPr>
            <a:spLocks noGrp="1"/>
          </p:cNvSpPr>
          <p:nvPr>
            <p:ph type="dt" sz="half" idx="10"/>
          </p:nvPr>
        </p:nvSpPr>
        <p:spPr/>
        <p:txBody>
          <a:bodyPr/>
          <a:lstStyle/>
          <a:p>
            <a:fld id="{C6E42C4B-F57B-4E35-9F16-F2776097F99C}" type="datetimeFigureOut">
              <a:rPr lang="en-IN" smtClean="0"/>
              <a:t>02-10-2025</a:t>
            </a:fld>
            <a:endParaRPr lang="en-IN"/>
          </a:p>
        </p:txBody>
      </p:sp>
      <p:sp>
        <p:nvSpPr>
          <p:cNvPr id="6" name="Footer Placeholder 5">
            <a:extLst>
              <a:ext uri="{FF2B5EF4-FFF2-40B4-BE49-F238E27FC236}">
                <a16:creationId xmlns:a16="http://schemas.microsoft.com/office/drawing/2014/main" id="{C51CAF11-C2E2-ACE9-C682-A4F2E115BE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7B64E6-DAEC-AA3C-BE1B-23823266DA87}"/>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460779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05A4A-13C2-DF94-DCB8-AB749F5B1B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C7C6B-9EAA-1CA9-18A3-D2C35FE106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D56699-F66A-80CB-0FB3-24CD7578E4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6D93F6-E29F-DEF7-BAE2-3ED0CFEC21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F49445-6E04-C159-C794-63271F5A7F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F9366FD-B723-2F52-14D6-A3101BA3FFFD}"/>
              </a:ext>
            </a:extLst>
          </p:cNvPr>
          <p:cNvSpPr>
            <a:spLocks noGrp="1"/>
          </p:cNvSpPr>
          <p:nvPr>
            <p:ph type="dt" sz="half" idx="10"/>
          </p:nvPr>
        </p:nvSpPr>
        <p:spPr/>
        <p:txBody>
          <a:bodyPr/>
          <a:lstStyle/>
          <a:p>
            <a:fld id="{C6E42C4B-F57B-4E35-9F16-F2776097F99C}" type="datetimeFigureOut">
              <a:rPr lang="en-IN" smtClean="0"/>
              <a:t>02-10-2025</a:t>
            </a:fld>
            <a:endParaRPr lang="en-IN"/>
          </a:p>
        </p:txBody>
      </p:sp>
      <p:sp>
        <p:nvSpPr>
          <p:cNvPr id="8" name="Footer Placeholder 7">
            <a:extLst>
              <a:ext uri="{FF2B5EF4-FFF2-40B4-BE49-F238E27FC236}">
                <a16:creationId xmlns:a16="http://schemas.microsoft.com/office/drawing/2014/main" id="{71FCCAFA-CCB3-4068-3341-18640D525AF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89711AF-A3B6-75A8-A3F9-18422C6167E1}"/>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3045838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4FDED-2E13-33E0-3402-09D8B127BE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427CC2-BF9F-C66A-A336-A0CFEB23FB0B}"/>
              </a:ext>
            </a:extLst>
          </p:cNvPr>
          <p:cNvSpPr>
            <a:spLocks noGrp="1"/>
          </p:cNvSpPr>
          <p:nvPr>
            <p:ph type="dt" sz="half" idx="10"/>
          </p:nvPr>
        </p:nvSpPr>
        <p:spPr/>
        <p:txBody>
          <a:bodyPr/>
          <a:lstStyle/>
          <a:p>
            <a:fld id="{C6E42C4B-F57B-4E35-9F16-F2776097F99C}" type="datetimeFigureOut">
              <a:rPr lang="en-IN" smtClean="0"/>
              <a:t>02-10-2025</a:t>
            </a:fld>
            <a:endParaRPr lang="en-IN"/>
          </a:p>
        </p:txBody>
      </p:sp>
      <p:sp>
        <p:nvSpPr>
          <p:cNvPr id="4" name="Footer Placeholder 3">
            <a:extLst>
              <a:ext uri="{FF2B5EF4-FFF2-40B4-BE49-F238E27FC236}">
                <a16:creationId xmlns:a16="http://schemas.microsoft.com/office/drawing/2014/main" id="{3D44A851-4F97-F228-1F33-E1D55FE1C52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9124CF4-979C-8A78-879C-D4F5ACB6CD92}"/>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1052597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1C0979-1EE8-C922-93A3-92E7EEF10814}"/>
              </a:ext>
            </a:extLst>
          </p:cNvPr>
          <p:cNvSpPr>
            <a:spLocks noGrp="1"/>
          </p:cNvSpPr>
          <p:nvPr>
            <p:ph type="dt" sz="half" idx="10"/>
          </p:nvPr>
        </p:nvSpPr>
        <p:spPr/>
        <p:txBody>
          <a:bodyPr/>
          <a:lstStyle/>
          <a:p>
            <a:fld id="{C6E42C4B-F57B-4E35-9F16-F2776097F99C}" type="datetimeFigureOut">
              <a:rPr lang="en-IN" smtClean="0"/>
              <a:t>02-10-2025</a:t>
            </a:fld>
            <a:endParaRPr lang="en-IN"/>
          </a:p>
        </p:txBody>
      </p:sp>
      <p:sp>
        <p:nvSpPr>
          <p:cNvPr id="3" name="Footer Placeholder 2">
            <a:extLst>
              <a:ext uri="{FF2B5EF4-FFF2-40B4-BE49-F238E27FC236}">
                <a16:creationId xmlns:a16="http://schemas.microsoft.com/office/drawing/2014/main" id="{E62F64D8-3C98-D9B1-C86A-FE64BD6F6CB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86AFC38-7888-20CD-D7AD-7C0B23C1D557}"/>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1474738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2BE5D-CDEF-20F3-EE52-529755C58E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23A6541-2754-7CBF-9AC0-68E3E973CA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183C150-EBE1-F5DF-AC32-58263B89DC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6FAD18-EF03-1157-9EBD-CC12B9DA75A6}"/>
              </a:ext>
            </a:extLst>
          </p:cNvPr>
          <p:cNvSpPr>
            <a:spLocks noGrp="1"/>
          </p:cNvSpPr>
          <p:nvPr>
            <p:ph type="dt" sz="half" idx="10"/>
          </p:nvPr>
        </p:nvSpPr>
        <p:spPr/>
        <p:txBody>
          <a:bodyPr/>
          <a:lstStyle/>
          <a:p>
            <a:fld id="{C6E42C4B-F57B-4E35-9F16-F2776097F99C}" type="datetimeFigureOut">
              <a:rPr lang="en-IN" smtClean="0"/>
              <a:t>02-10-2025</a:t>
            </a:fld>
            <a:endParaRPr lang="en-IN"/>
          </a:p>
        </p:txBody>
      </p:sp>
      <p:sp>
        <p:nvSpPr>
          <p:cNvPr id="6" name="Footer Placeholder 5">
            <a:extLst>
              <a:ext uri="{FF2B5EF4-FFF2-40B4-BE49-F238E27FC236}">
                <a16:creationId xmlns:a16="http://schemas.microsoft.com/office/drawing/2014/main" id="{60FBBB3F-8F02-4448-CB83-3F2C2D1572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F93627-5C06-D6DF-06EA-64A7455D52B0}"/>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4068134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CA1F4-E38E-A202-68EC-BE1F34A160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958BF99-9C42-1E66-0297-98B1E320B2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F1774DB-FA43-7EC2-1D2F-DA506A15C0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6C0DFC-B91B-2937-90B6-34566D5F54DE}"/>
              </a:ext>
            </a:extLst>
          </p:cNvPr>
          <p:cNvSpPr>
            <a:spLocks noGrp="1"/>
          </p:cNvSpPr>
          <p:nvPr>
            <p:ph type="dt" sz="half" idx="10"/>
          </p:nvPr>
        </p:nvSpPr>
        <p:spPr/>
        <p:txBody>
          <a:bodyPr/>
          <a:lstStyle/>
          <a:p>
            <a:fld id="{C6E42C4B-F57B-4E35-9F16-F2776097F99C}" type="datetimeFigureOut">
              <a:rPr lang="en-IN" smtClean="0"/>
              <a:t>02-10-2025</a:t>
            </a:fld>
            <a:endParaRPr lang="en-IN"/>
          </a:p>
        </p:txBody>
      </p:sp>
      <p:sp>
        <p:nvSpPr>
          <p:cNvPr id="6" name="Footer Placeholder 5">
            <a:extLst>
              <a:ext uri="{FF2B5EF4-FFF2-40B4-BE49-F238E27FC236}">
                <a16:creationId xmlns:a16="http://schemas.microsoft.com/office/drawing/2014/main" id="{3052B0E6-7AE8-5656-3F97-3094BBC8A9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A6E35C-A9EF-27C3-8BB2-AC5C9D7EC991}"/>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3239299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03A92-140B-BF7F-767F-B56147AF565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8BCACD-1B6B-300A-05D2-9B815B31BA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CBE608-03FB-15AE-402F-D9A8C727F010}"/>
              </a:ext>
            </a:extLst>
          </p:cNvPr>
          <p:cNvSpPr>
            <a:spLocks noGrp="1"/>
          </p:cNvSpPr>
          <p:nvPr>
            <p:ph type="dt" sz="half" idx="10"/>
          </p:nvPr>
        </p:nvSpPr>
        <p:spPr/>
        <p:txBody>
          <a:bodyPr/>
          <a:lstStyle/>
          <a:p>
            <a:fld id="{C6E42C4B-F57B-4E35-9F16-F2776097F99C}" type="datetimeFigureOut">
              <a:rPr lang="en-IN" smtClean="0"/>
              <a:t>02-10-2025</a:t>
            </a:fld>
            <a:endParaRPr lang="en-IN"/>
          </a:p>
        </p:txBody>
      </p:sp>
      <p:sp>
        <p:nvSpPr>
          <p:cNvPr id="5" name="Footer Placeholder 4">
            <a:extLst>
              <a:ext uri="{FF2B5EF4-FFF2-40B4-BE49-F238E27FC236}">
                <a16:creationId xmlns:a16="http://schemas.microsoft.com/office/drawing/2014/main" id="{BC5BF429-38E3-0C49-FED2-9B2F91209A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F0FEFE-30B4-3544-F44F-22349CA50F62}"/>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3776389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55A99A-1C48-08DF-9E89-3427B82672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4B4ACF-C776-ED47-68A1-F3C7F9E57D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E0B43-DC35-A124-92F8-7D90853100B8}"/>
              </a:ext>
            </a:extLst>
          </p:cNvPr>
          <p:cNvSpPr>
            <a:spLocks noGrp="1"/>
          </p:cNvSpPr>
          <p:nvPr>
            <p:ph type="dt" sz="half" idx="10"/>
          </p:nvPr>
        </p:nvSpPr>
        <p:spPr/>
        <p:txBody>
          <a:bodyPr/>
          <a:lstStyle/>
          <a:p>
            <a:fld id="{C6E42C4B-F57B-4E35-9F16-F2776097F99C}" type="datetimeFigureOut">
              <a:rPr lang="en-IN" smtClean="0"/>
              <a:t>02-10-2025</a:t>
            </a:fld>
            <a:endParaRPr lang="en-IN"/>
          </a:p>
        </p:txBody>
      </p:sp>
      <p:sp>
        <p:nvSpPr>
          <p:cNvPr id="5" name="Footer Placeholder 4">
            <a:extLst>
              <a:ext uri="{FF2B5EF4-FFF2-40B4-BE49-F238E27FC236}">
                <a16:creationId xmlns:a16="http://schemas.microsoft.com/office/drawing/2014/main" id="{1FC70E4F-608B-9DFC-673C-6472096C94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C7B465-A501-4A4E-6BA4-4CAA3863315A}"/>
              </a:ext>
            </a:extLst>
          </p:cNvPr>
          <p:cNvSpPr>
            <a:spLocks noGrp="1"/>
          </p:cNvSpPr>
          <p:nvPr>
            <p:ph type="sldNum" sz="quarter" idx="12"/>
          </p:nvPr>
        </p:nvSpPr>
        <p:spPr/>
        <p:txBody>
          <a:bodyPr/>
          <a:lstStyle/>
          <a:p>
            <a:fld id="{6E0549C6-511A-4F6A-BB4A-7BE6A9D33F5B}" type="slidenum">
              <a:rPr lang="en-IN" smtClean="0"/>
              <a:t>‹#›</a:t>
            </a:fld>
            <a:endParaRPr lang="en-IN"/>
          </a:p>
        </p:txBody>
      </p:sp>
    </p:spTree>
    <p:extLst>
      <p:ext uri="{BB962C8B-B14F-4D97-AF65-F5344CB8AC3E}">
        <p14:creationId xmlns:p14="http://schemas.microsoft.com/office/powerpoint/2010/main" val="3420993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DEA9A7-3B01-82DF-990A-31A4C76341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62B68E-906F-7C7E-50FE-F5CB5779FE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335556-7806-7AED-F99B-397F1C110B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E42C4B-F57B-4E35-9F16-F2776097F99C}" type="datetimeFigureOut">
              <a:rPr lang="en-IN" smtClean="0"/>
              <a:t>02-10-2025</a:t>
            </a:fld>
            <a:endParaRPr lang="en-IN"/>
          </a:p>
        </p:txBody>
      </p:sp>
      <p:sp>
        <p:nvSpPr>
          <p:cNvPr id="5" name="Footer Placeholder 4">
            <a:extLst>
              <a:ext uri="{FF2B5EF4-FFF2-40B4-BE49-F238E27FC236}">
                <a16:creationId xmlns:a16="http://schemas.microsoft.com/office/drawing/2014/main" id="{85C15E84-55FC-A3D1-34F6-E72980F303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A86CA82-8199-1B54-C63E-1965E1FF28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0549C6-511A-4F6A-BB4A-7BE6A9D33F5B}" type="slidenum">
              <a:rPr lang="en-IN" smtClean="0"/>
              <a:t>‹#›</a:t>
            </a:fld>
            <a:endParaRPr lang="en-IN"/>
          </a:p>
        </p:txBody>
      </p:sp>
    </p:spTree>
    <p:extLst>
      <p:ext uri="{BB962C8B-B14F-4D97-AF65-F5344CB8AC3E}">
        <p14:creationId xmlns:p14="http://schemas.microsoft.com/office/powerpoint/2010/main" val="41836096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57C5FE69-F38B-BB07-5B87-0539DEE5F0C5}"/>
              </a:ext>
            </a:extLst>
          </p:cNvPr>
          <p:cNvSpPr>
            <a:spLocks noGrp="1"/>
          </p:cNvSpPr>
          <p:nvPr>
            <p:ph type="title"/>
          </p:nvPr>
        </p:nvSpPr>
        <p:spPr>
          <a:xfrm>
            <a:off x="246199" y="1332409"/>
            <a:ext cx="7135950" cy="1595847"/>
          </a:xfrm>
        </p:spPr>
        <p:txBody>
          <a:bodyPr anchor="t">
            <a:normAutofit fontScale="90000"/>
          </a:bodyPr>
          <a:lstStyle/>
          <a:p>
            <a:pPr algn="ctr"/>
            <a:r>
              <a:rPr lang="en-IN" b="1" dirty="0"/>
              <a:t>Auto-Insurance Fraud Dataset</a:t>
            </a:r>
            <a:br>
              <a:rPr lang="en-IN" b="1" dirty="0"/>
            </a:br>
            <a:r>
              <a:rPr lang="en-IN" b="1" dirty="0"/>
              <a:t>Group - 9</a:t>
            </a:r>
          </a:p>
        </p:txBody>
      </p:sp>
      <p:sp>
        <p:nvSpPr>
          <p:cNvPr id="3" name="Rectangle 2" descr="life Insurance claim form on table">
            <a:extLst>
              <a:ext uri="{FF2B5EF4-FFF2-40B4-BE49-F238E27FC236}">
                <a16:creationId xmlns:a16="http://schemas.microsoft.com/office/drawing/2014/main" id="{07E4D7FA-0D49-3BF1-1D21-BF46FFE46EE0}"/>
              </a:ext>
            </a:extLst>
          </p:cNvPr>
          <p:cNvSpPr/>
          <p:nvPr/>
        </p:nvSpPr>
        <p:spPr>
          <a:xfrm>
            <a:off x="7628347" y="0"/>
            <a:ext cx="4563653" cy="6858000"/>
          </a:xfrm>
          <a:prstGeom prst="rect">
            <a:avLst/>
          </a:prstGeom>
          <a:blipFill>
            <a:blip r:embed="rId3">
              <a:extLst>
                <a:ext uri="{28A0092B-C50C-407E-A947-70E740481C1C}">
                  <a14:useLocalDpi xmlns:a14="http://schemas.microsoft.com/office/drawing/2010/main" val="0"/>
                </a:ext>
              </a:extLst>
            </a:blip>
            <a:srcRect l="14434" r="18817" b="2"/>
            <a:stretch/>
          </a:blipFill>
        </p:spPr>
        <p:style>
          <a:lnRef idx="0">
            <a:schemeClr val="lt2">
              <a:hueOff val="0"/>
              <a:satOff val="0"/>
              <a:lumOff val="0"/>
              <a:alphaOff val="0"/>
            </a:schemeClr>
          </a:lnRef>
          <a:fillRef idx="3">
            <a:scrgbClr r="0" g="0" b="0"/>
          </a:fillRef>
          <a:effectRef idx="2">
            <a:schemeClr val="dk2">
              <a:hueOff val="0"/>
              <a:satOff val="0"/>
              <a:lumOff val="0"/>
              <a:alphaOff val="0"/>
            </a:schemeClr>
          </a:effectRef>
          <a:fontRef idx="minor">
            <a:schemeClr val="lt1"/>
          </a:fontRef>
        </p:style>
        <p:txBody>
          <a:bodyPr/>
          <a:lstStyle/>
          <a:p>
            <a:endParaRPr lang="en-IN"/>
          </a:p>
        </p:txBody>
      </p:sp>
      <p:graphicFrame>
        <p:nvGraphicFramePr>
          <p:cNvPr id="4" name="Table 3">
            <a:extLst>
              <a:ext uri="{FF2B5EF4-FFF2-40B4-BE49-F238E27FC236}">
                <a16:creationId xmlns:a16="http://schemas.microsoft.com/office/drawing/2014/main" id="{78E33341-E079-243F-FA9E-C501444844E0}"/>
              </a:ext>
            </a:extLst>
          </p:cNvPr>
          <p:cNvGraphicFramePr>
            <a:graphicFrameLocks noGrp="1"/>
          </p:cNvGraphicFramePr>
          <p:nvPr>
            <p:extLst>
              <p:ext uri="{D42A27DB-BD31-4B8C-83A1-F6EECF244321}">
                <p14:modId xmlns:p14="http://schemas.microsoft.com/office/powerpoint/2010/main" val="2471259193"/>
              </p:ext>
            </p:extLst>
          </p:nvPr>
        </p:nvGraphicFramePr>
        <p:xfrm>
          <a:off x="1250227" y="3002114"/>
          <a:ext cx="4693373" cy="2517102"/>
        </p:xfrm>
        <a:graphic>
          <a:graphicData uri="http://schemas.openxmlformats.org/drawingml/2006/table">
            <a:tbl>
              <a:tblPr firstRow="1" firstCol="1" bandRow="1">
                <a:tableStyleId>{5C22544A-7EE6-4342-B048-85BDC9FD1C3A}</a:tableStyleId>
              </a:tblPr>
              <a:tblGrid>
                <a:gridCol w="1636166">
                  <a:extLst>
                    <a:ext uri="{9D8B030D-6E8A-4147-A177-3AD203B41FA5}">
                      <a16:colId xmlns:a16="http://schemas.microsoft.com/office/drawing/2014/main" val="1526274199"/>
                    </a:ext>
                  </a:extLst>
                </a:gridCol>
                <a:gridCol w="3057207">
                  <a:extLst>
                    <a:ext uri="{9D8B030D-6E8A-4147-A177-3AD203B41FA5}">
                      <a16:colId xmlns:a16="http://schemas.microsoft.com/office/drawing/2014/main" val="140943609"/>
                    </a:ext>
                  </a:extLst>
                </a:gridCol>
              </a:tblGrid>
              <a:tr h="419517">
                <a:tc>
                  <a:txBody>
                    <a:bodyPr/>
                    <a:lstStyle/>
                    <a:p>
                      <a:pPr marL="0" marR="0" algn="ctr">
                        <a:lnSpc>
                          <a:spcPct val="115000"/>
                        </a:lnSpc>
                        <a:spcAft>
                          <a:spcPts val="800"/>
                        </a:spcAft>
                        <a:buNone/>
                      </a:pPr>
                      <a:r>
                        <a:rPr lang="en-IN" sz="1800" kern="100" dirty="0">
                          <a:effectLst/>
                          <a:latin typeface="Calibri" panose="020F0502020204030204" pitchFamily="34" charset="0"/>
                          <a:ea typeface="Calibri" panose="020F0502020204030204" pitchFamily="34" charset="0"/>
                          <a:cs typeface="Calibri" panose="020F0502020204030204" pitchFamily="34" charset="0"/>
                        </a:rPr>
                        <a:t>ROLL NUMBER</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marR="0" algn="ctr">
                        <a:lnSpc>
                          <a:spcPct val="115000"/>
                        </a:lnSpc>
                        <a:spcAft>
                          <a:spcPts val="800"/>
                        </a:spcAft>
                        <a:buNone/>
                      </a:pPr>
                      <a:r>
                        <a:rPr lang="en-IN" sz="1800" kern="100" dirty="0">
                          <a:effectLst/>
                          <a:latin typeface="Calibri" panose="020F0502020204030204" pitchFamily="34" charset="0"/>
                          <a:ea typeface="Calibri" panose="020F0502020204030204" pitchFamily="34" charset="0"/>
                          <a:cs typeface="Calibri" panose="020F0502020204030204" pitchFamily="34" charset="0"/>
                        </a:rPr>
                        <a:t>NAME</a:t>
                      </a: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695369933"/>
                  </a:ext>
                </a:extLst>
              </a:tr>
              <a:tr h="419517">
                <a:tc>
                  <a:txBody>
                    <a:bodyPr/>
                    <a:lstStyle/>
                    <a:p>
                      <a:pPr marL="0" marR="0" algn="ctr">
                        <a:lnSpc>
                          <a:spcPct val="115000"/>
                        </a:lnSpc>
                        <a:spcAft>
                          <a:spcPts val="800"/>
                        </a:spcAft>
                        <a:buNone/>
                      </a:pPr>
                      <a:r>
                        <a:rPr lang="en-IN"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P2522001</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IN" sz="1800" kern="100">
                          <a:effectLst/>
                          <a:latin typeface="Calibri" panose="020F0502020204030204" pitchFamily="34" charset="0"/>
                          <a:ea typeface="Calibri" panose="020F0502020204030204" pitchFamily="34" charset="0"/>
                          <a:cs typeface="Calibri" panose="020F0502020204030204" pitchFamily="34" charset="0"/>
                        </a:rPr>
                        <a:t>ADITYA MAHENDRA NATHANI</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2523748"/>
                  </a:ext>
                </a:extLst>
              </a:tr>
              <a:tr h="419517">
                <a:tc>
                  <a:txBody>
                    <a:bodyPr/>
                    <a:lstStyle/>
                    <a:p>
                      <a:pPr marL="0" marR="0" algn="ctr">
                        <a:lnSpc>
                          <a:spcPct val="115000"/>
                        </a:lnSpc>
                        <a:spcAft>
                          <a:spcPts val="800"/>
                        </a:spcAft>
                        <a:buNone/>
                      </a:pPr>
                      <a:r>
                        <a:rPr lang="en-IN"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P2522009</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IN" sz="1800" kern="100" dirty="0">
                          <a:effectLst/>
                          <a:latin typeface="Calibri" panose="020F0502020204030204" pitchFamily="34" charset="0"/>
                          <a:ea typeface="Calibri" panose="020F0502020204030204" pitchFamily="34" charset="0"/>
                          <a:cs typeface="Calibri" panose="020F0502020204030204" pitchFamily="34" charset="0"/>
                        </a:rPr>
                        <a:t>ANUSHA AGARWAL</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8735244"/>
                  </a:ext>
                </a:extLst>
              </a:tr>
              <a:tr h="419517">
                <a:tc>
                  <a:txBody>
                    <a:bodyPr/>
                    <a:lstStyle/>
                    <a:p>
                      <a:pPr marL="0" marR="0" algn="ctr">
                        <a:lnSpc>
                          <a:spcPct val="115000"/>
                        </a:lnSpc>
                        <a:spcAft>
                          <a:spcPts val="800"/>
                        </a:spcAft>
                        <a:buNone/>
                      </a:pPr>
                      <a:r>
                        <a:rPr lang="en-IN"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P2522030</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IN" sz="1800" kern="100" dirty="0">
                          <a:effectLst/>
                          <a:latin typeface="Calibri" panose="020F0502020204030204" pitchFamily="34" charset="0"/>
                          <a:ea typeface="Calibri" panose="020F0502020204030204" pitchFamily="34" charset="0"/>
                          <a:cs typeface="Calibri" panose="020F0502020204030204" pitchFamily="34" charset="0"/>
                        </a:rPr>
                        <a:t>KARTHIK RAJA </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1021357"/>
                  </a:ext>
                </a:extLst>
              </a:tr>
              <a:tr h="419517">
                <a:tc>
                  <a:txBody>
                    <a:bodyPr/>
                    <a:lstStyle/>
                    <a:p>
                      <a:pPr marL="0" marR="0" algn="ctr">
                        <a:lnSpc>
                          <a:spcPct val="115000"/>
                        </a:lnSpc>
                        <a:spcAft>
                          <a:spcPts val="800"/>
                        </a:spcAft>
                        <a:buNone/>
                      </a:pPr>
                      <a:r>
                        <a:rPr lang="en-IN" sz="180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P2522032</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IN" sz="1800" kern="100" dirty="0">
                          <a:effectLst/>
                          <a:latin typeface="Calibri" panose="020F0502020204030204" pitchFamily="34" charset="0"/>
                          <a:ea typeface="Calibri" panose="020F0502020204030204" pitchFamily="34" charset="0"/>
                          <a:cs typeface="Calibri" panose="020F0502020204030204" pitchFamily="34" charset="0"/>
                        </a:rPr>
                        <a:t>KRISH SHARAN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3250493"/>
                  </a:ext>
                </a:extLst>
              </a:tr>
              <a:tr h="419517">
                <a:tc>
                  <a:txBody>
                    <a:bodyPr/>
                    <a:lstStyle/>
                    <a:p>
                      <a:pPr marL="0" marR="0" algn="ctr">
                        <a:lnSpc>
                          <a:spcPct val="115000"/>
                        </a:lnSpc>
                        <a:spcAft>
                          <a:spcPts val="800"/>
                        </a:spcAft>
                        <a:buNone/>
                      </a:pPr>
                      <a:r>
                        <a:rPr lang="en-IN" sz="1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P2522036</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IN" sz="1800" kern="100" dirty="0">
                          <a:effectLst/>
                          <a:latin typeface="Calibri" panose="020F0502020204030204" pitchFamily="34" charset="0"/>
                          <a:ea typeface="Calibri" panose="020F0502020204030204" pitchFamily="34" charset="0"/>
                          <a:cs typeface="Calibri" panose="020F0502020204030204" pitchFamily="34" charset="0"/>
                        </a:rPr>
                        <a:t>M PRAVEEN KUMAR</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3768868"/>
                  </a:ext>
                </a:extLst>
              </a:tr>
            </a:tbl>
          </a:graphicData>
        </a:graphic>
      </p:graphicFrame>
    </p:spTree>
    <p:extLst>
      <p:ext uri="{BB962C8B-B14F-4D97-AF65-F5344CB8AC3E}">
        <p14:creationId xmlns:p14="http://schemas.microsoft.com/office/powerpoint/2010/main" val="123658284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5AB1A-507D-D075-D38E-BB926A8189FC}"/>
              </a:ext>
            </a:extLst>
          </p:cNvPr>
          <p:cNvSpPr>
            <a:spLocks noGrp="1"/>
          </p:cNvSpPr>
          <p:nvPr>
            <p:ph type="title"/>
          </p:nvPr>
        </p:nvSpPr>
        <p:spPr>
          <a:xfrm>
            <a:off x="838200" y="321581"/>
            <a:ext cx="10515600" cy="1325563"/>
          </a:xfrm>
        </p:spPr>
        <p:txBody>
          <a:bodyPr/>
          <a:lstStyle/>
          <a:p>
            <a:pPr algn="ctr"/>
            <a:r>
              <a:rPr lang="en-IN" b="1" dirty="0"/>
              <a:t>Data Structure</a:t>
            </a:r>
            <a:endParaRPr lang="en-IN" dirty="0"/>
          </a:p>
        </p:txBody>
      </p:sp>
      <p:sp>
        <p:nvSpPr>
          <p:cNvPr id="3" name="Content Placeholder 2">
            <a:extLst>
              <a:ext uri="{FF2B5EF4-FFF2-40B4-BE49-F238E27FC236}">
                <a16:creationId xmlns:a16="http://schemas.microsoft.com/office/drawing/2014/main" id="{AFE57EEE-9C9A-9129-04B3-016D84B66540}"/>
              </a:ext>
            </a:extLst>
          </p:cNvPr>
          <p:cNvSpPr>
            <a:spLocks noGrp="1"/>
          </p:cNvSpPr>
          <p:nvPr>
            <p:ph idx="1"/>
          </p:nvPr>
        </p:nvSpPr>
        <p:spPr>
          <a:xfrm>
            <a:off x="838200" y="1690688"/>
            <a:ext cx="10515600" cy="4486275"/>
          </a:xfrm>
        </p:spPr>
        <p:txBody>
          <a:bodyPr>
            <a:normAutofit lnSpcReduction="10000"/>
          </a:bodyPr>
          <a:lstStyle/>
          <a:p>
            <a:pPr marL="0" lvl="0" indent="0" algn="just" eaLnBrk="0" fontAlgn="base" hangingPunct="0">
              <a:spcBef>
                <a:spcPct val="0"/>
              </a:spcBef>
              <a:spcAft>
                <a:spcPts val="600"/>
              </a:spcAft>
              <a:buNone/>
            </a:pPr>
            <a:r>
              <a:rPr lang="en-US" altLang="en-US" sz="2000" b="1" dirty="0">
                <a:latin typeface="Arial" panose="020B0604020202020204" pitchFamily="34" charset="0"/>
                <a:cs typeface="Arial" panose="020B0604020202020204" pitchFamily="34" charset="0"/>
              </a:rPr>
              <a:t>Rows &amp; Columns</a:t>
            </a:r>
            <a:r>
              <a:rPr lang="en-US" altLang="en-US" sz="2000" dirty="0">
                <a:latin typeface="Arial" panose="020B0604020202020204" pitchFamily="34" charset="0"/>
                <a:cs typeface="Arial" panose="020B0604020202020204" pitchFamily="34" charset="0"/>
              </a:rPr>
              <a:t>: The dataset has </a:t>
            </a:r>
            <a:r>
              <a:rPr lang="en-US" altLang="en-US" sz="2000" b="1" dirty="0">
                <a:latin typeface="Arial" panose="020B0604020202020204" pitchFamily="34" charset="0"/>
                <a:cs typeface="Arial" panose="020B0604020202020204" pitchFamily="34" charset="0"/>
              </a:rPr>
              <a:t>1000 rows</a:t>
            </a:r>
            <a:r>
              <a:rPr lang="en-US" altLang="en-US" sz="2000" dirty="0">
                <a:latin typeface="Arial" panose="020B0604020202020204" pitchFamily="34" charset="0"/>
                <a:cs typeface="Arial" panose="020B0604020202020204" pitchFamily="34" charset="0"/>
              </a:rPr>
              <a:t> (each representing a unique insurance policy holder and incident report) and </a:t>
            </a:r>
            <a:r>
              <a:rPr lang="en-US" altLang="en-US" sz="2000" b="1" dirty="0">
                <a:latin typeface="Arial" panose="020B0604020202020204" pitchFamily="34" charset="0"/>
                <a:cs typeface="Arial" panose="020B0604020202020204" pitchFamily="34" charset="0"/>
              </a:rPr>
              <a:t>39 columns</a:t>
            </a:r>
            <a:r>
              <a:rPr lang="en-US" altLang="en-US" sz="2000" dirty="0">
                <a:latin typeface="Arial" panose="020B0604020202020204" pitchFamily="34" charset="0"/>
                <a:cs typeface="Arial" panose="020B0604020202020204" pitchFamily="34" charset="0"/>
              </a:rPr>
              <a:t>.</a:t>
            </a:r>
            <a:endParaRPr lang="en-US" altLang="en-US" sz="2000" b="1" dirty="0">
              <a:latin typeface="Arial" panose="020B0604020202020204" pitchFamily="34" charset="0"/>
              <a:cs typeface="Arial" panose="020B0604020202020204" pitchFamily="34" charset="0"/>
            </a:endParaRPr>
          </a:p>
          <a:p>
            <a:pPr marL="0" lvl="0" indent="0" algn="just" eaLnBrk="0" fontAlgn="base" hangingPunct="0">
              <a:spcBef>
                <a:spcPct val="0"/>
              </a:spcBef>
              <a:spcAft>
                <a:spcPts val="600"/>
              </a:spcAft>
              <a:buNone/>
            </a:pPr>
            <a:r>
              <a:rPr lang="en-US" altLang="en-US" sz="2000" b="1" dirty="0">
                <a:latin typeface="Arial" panose="020B0604020202020204" pitchFamily="34" charset="0"/>
                <a:cs typeface="Arial" panose="020B0604020202020204" pitchFamily="34" charset="0"/>
              </a:rPr>
              <a:t>Nature of Data</a:t>
            </a:r>
            <a:r>
              <a:rPr lang="en-US" altLang="en-US" sz="2000" dirty="0">
                <a:latin typeface="Arial" panose="020B0604020202020204" pitchFamily="34" charset="0"/>
                <a:cs typeface="Arial" panose="020B0604020202020204" pitchFamily="34" charset="0"/>
              </a:rPr>
              <a:t>:</a:t>
            </a:r>
          </a:p>
          <a:p>
            <a:pPr marL="342900" lvl="0" indent="-342900" algn="just" eaLnBrk="0" fontAlgn="base" hangingPunct="0">
              <a:spcBef>
                <a:spcPct val="0"/>
              </a:spcBef>
              <a:spcAft>
                <a:spcPts val="600"/>
              </a:spcAft>
              <a:buFont typeface="+mj-lt"/>
              <a:buAutoNum type="arabicPeriod"/>
            </a:pPr>
            <a:r>
              <a:rPr lang="en-US" altLang="en-US" sz="2000" b="1" dirty="0">
                <a:latin typeface="Arial" panose="020B0604020202020204" pitchFamily="34" charset="0"/>
                <a:cs typeface="Arial" panose="020B0604020202020204" pitchFamily="34" charset="0"/>
              </a:rPr>
              <a:t>Policy &amp; Customer Information</a:t>
            </a:r>
            <a:r>
              <a:rPr lang="en-US" altLang="en-US" sz="2000" dirty="0">
                <a:latin typeface="Arial" panose="020B0604020202020204" pitchFamily="34" charset="0"/>
                <a:cs typeface="Arial" panose="020B0604020202020204" pitchFamily="34" charset="0"/>
              </a:rPr>
              <a:t>: policy number, bind date, premiums, deductibles, umbrella limit.</a:t>
            </a:r>
          </a:p>
          <a:p>
            <a:pPr marL="342900" lvl="0" indent="-342900" algn="just" eaLnBrk="0" fontAlgn="base" hangingPunct="0">
              <a:spcBef>
                <a:spcPct val="0"/>
              </a:spcBef>
              <a:spcAft>
                <a:spcPts val="600"/>
              </a:spcAft>
              <a:buFont typeface="+mj-lt"/>
              <a:buAutoNum type="arabicPeriod"/>
            </a:pPr>
            <a:r>
              <a:rPr lang="en-US" altLang="en-US" sz="2000" b="1" dirty="0">
                <a:latin typeface="Arial" panose="020B0604020202020204" pitchFamily="34" charset="0"/>
                <a:cs typeface="Arial" panose="020B0604020202020204" pitchFamily="34" charset="0"/>
              </a:rPr>
              <a:t>Customer Profile</a:t>
            </a:r>
            <a:r>
              <a:rPr lang="en-US" altLang="en-US" sz="2000" dirty="0">
                <a:latin typeface="Arial" panose="020B0604020202020204" pitchFamily="34" charset="0"/>
                <a:cs typeface="Arial" panose="020B0604020202020204" pitchFamily="34" charset="0"/>
              </a:rPr>
              <a:t>: demographics, occupation, education, hobbies.</a:t>
            </a:r>
          </a:p>
          <a:p>
            <a:pPr marL="342900" lvl="0" indent="-342900" algn="just" eaLnBrk="0" fontAlgn="base" hangingPunct="0">
              <a:spcBef>
                <a:spcPct val="0"/>
              </a:spcBef>
              <a:spcAft>
                <a:spcPts val="600"/>
              </a:spcAft>
              <a:buFont typeface="+mj-lt"/>
              <a:buAutoNum type="arabicPeriod"/>
            </a:pPr>
            <a:r>
              <a:rPr lang="en-US" altLang="en-US" sz="2000" b="1" dirty="0">
                <a:latin typeface="Arial" panose="020B0604020202020204" pitchFamily="34" charset="0"/>
                <a:cs typeface="Arial" panose="020B0604020202020204" pitchFamily="34" charset="0"/>
              </a:rPr>
              <a:t>Incident Details</a:t>
            </a:r>
            <a:r>
              <a:rPr lang="en-US" altLang="en-US" sz="2000" dirty="0">
                <a:latin typeface="Arial" panose="020B0604020202020204" pitchFamily="34" charset="0"/>
                <a:cs typeface="Arial" panose="020B0604020202020204" pitchFamily="34" charset="0"/>
              </a:rPr>
              <a:t>: incident type, date, severity, authorities contacted, etc.</a:t>
            </a:r>
          </a:p>
          <a:p>
            <a:pPr marL="342900" lvl="0" indent="-342900" algn="just" eaLnBrk="0" fontAlgn="base" hangingPunct="0">
              <a:spcBef>
                <a:spcPct val="0"/>
              </a:spcBef>
              <a:spcAft>
                <a:spcPts val="600"/>
              </a:spcAft>
              <a:buFont typeface="+mj-lt"/>
              <a:buAutoNum type="arabicPeriod"/>
            </a:pPr>
            <a:r>
              <a:rPr lang="en-US" altLang="en-US" sz="2000" b="1" dirty="0">
                <a:latin typeface="Arial" panose="020B0604020202020204" pitchFamily="34" charset="0"/>
                <a:cs typeface="Arial" panose="020B0604020202020204" pitchFamily="34" charset="0"/>
              </a:rPr>
              <a:t>Claims Data</a:t>
            </a:r>
            <a:r>
              <a:rPr lang="en-US" altLang="en-US" sz="2000" dirty="0">
                <a:latin typeface="Arial" panose="020B0604020202020204" pitchFamily="34" charset="0"/>
                <a:cs typeface="Arial" panose="020B0604020202020204" pitchFamily="34" charset="0"/>
              </a:rPr>
              <a:t>: injury, property, vehicle, total claim amounts.</a:t>
            </a:r>
          </a:p>
          <a:p>
            <a:pPr marL="342900" lvl="0" indent="-342900" algn="just" eaLnBrk="0" fontAlgn="base" hangingPunct="0">
              <a:spcBef>
                <a:spcPct val="0"/>
              </a:spcBef>
              <a:spcAft>
                <a:spcPts val="600"/>
              </a:spcAft>
              <a:buFont typeface="+mj-lt"/>
              <a:buAutoNum type="arabicPeriod"/>
            </a:pPr>
            <a:r>
              <a:rPr lang="en-US" altLang="en-US" sz="2000" b="1" dirty="0">
                <a:latin typeface="Arial" panose="020B0604020202020204" pitchFamily="34" charset="0"/>
                <a:cs typeface="Arial" panose="020B0604020202020204" pitchFamily="34" charset="0"/>
              </a:rPr>
              <a:t>Vehicle Information</a:t>
            </a:r>
            <a:r>
              <a:rPr lang="en-US" altLang="en-US" sz="2000" dirty="0">
                <a:latin typeface="Arial" panose="020B0604020202020204" pitchFamily="34" charset="0"/>
                <a:cs typeface="Arial" panose="020B0604020202020204" pitchFamily="34" charset="0"/>
              </a:rPr>
              <a:t>: make, model, year.</a:t>
            </a:r>
          </a:p>
          <a:p>
            <a:pPr marL="342900" lvl="0" indent="-342900" algn="just" eaLnBrk="0" fontAlgn="base" hangingPunct="0">
              <a:spcBef>
                <a:spcPct val="0"/>
              </a:spcBef>
              <a:spcAft>
                <a:spcPts val="600"/>
              </a:spcAft>
              <a:buFont typeface="+mj-lt"/>
              <a:buAutoNum type="arabicPeriod"/>
            </a:pPr>
            <a:r>
              <a:rPr lang="en-US" altLang="en-US" sz="2000" b="1" dirty="0">
                <a:latin typeface="Arial" panose="020B0604020202020204" pitchFamily="34" charset="0"/>
                <a:cs typeface="Arial" panose="020B0604020202020204" pitchFamily="34" charset="0"/>
              </a:rPr>
              <a:t>Fraud Label</a:t>
            </a:r>
            <a:r>
              <a:rPr lang="en-US" altLang="en-US" sz="2000" dirty="0">
                <a:latin typeface="Arial" panose="020B0604020202020204" pitchFamily="34" charset="0"/>
                <a:cs typeface="Arial" panose="020B0604020202020204" pitchFamily="34" charset="0"/>
              </a:rPr>
              <a:t>: binary target variable.</a:t>
            </a:r>
          </a:p>
          <a:p>
            <a:pPr marL="342900" lvl="0" indent="-342900" algn="just" eaLnBrk="0" fontAlgn="base" hangingPunct="0">
              <a:spcBef>
                <a:spcPct val="0"/>
              </a:spcBef>
              <a:spcAft>
                <a:spcPts val="600"/>
              </a:spcAft>
              <a:buFont typeface="+mj-lt"/>
              <a:buAutoNum type="arabicPeriod"/>
            </a:pPr>
            <a:endParaRPr lang="en-US" altLang="en-US" sz="2000" dirty="0">
              <a:latin typeface="Arial" panose="020B0604020202020204" pitchFamily="34" charset="0"/>
              <a:cs typeface="Arial" panose="020B0604020202020204" pitchFamily="34" charset="0"/>
            </a:endParaRPr>
          </a:p>
          <a:p>
            <a:pPr marL="0" indent="0" algn="just" eaLnBrk="0" fontAlgn="base" hangingPunct="0">
              <a:spcBef>
                <a:spcPct val="0"/>
              </a:spcBef>
              <a:spcAft>
                <a:spcPts val="600"/>
              </a:spcAft>
              <a:buNone/>
            </a:pPr>
            <a:r>
              <a:rPr lang="en-US" sz="2000" b="1" dirty="0">
                <a:latin typeface="Arial" panose="020B0604020202020204" pitchFamily="34" charset="0"/>
                <a:cs typeface="Arial" panose="020B0604020202020204" pitchFamily="34" charset="0"/>
              </a:rPr>
              <a:t>Business Understanding</a:t>
            </a:r>
            <a:r>
              <a:rPr lang="en-US" sz="2000" dirty="0">
                <a:latin typeface="Arial" panose="020B0604020202020204" pitchFamily="34" charset="0"/>
                <a:cs typeface="Arial" panose="020B0604020202020204" pitchFamily="34" charset="0"/>
              </a:rPr>
              <a:t>: This dataset is essentially </a:t>
            </a:r>
            <a:r>
              <a:rPr lang="en-US" sz="2000" b="1" dirty="0">
                <a:latin typeface="Arial" panose="020B0604020202020204" pitchFamily="34" charset="0"/>
                <a:cs typeface="Arial" panose="020B0604020202020204" pitchFamily="34" charset="0"/>
              </a:rPr>
              <a:t>fraud detection in auto-insurance claims</a:t>
            </a:r>
            <a:r>
              <a:rPr lang="en-US" sz="2000" dirty="0">
                <a:latin typeface="Arial" panose="020B0604020202020204" pitchFamily="34" charset="0"/>
                <a:cs typeface="Arial" panose="020B0604020202020204" pitchFamily="34" charset="0"/>
              </a:rPr>
              <a:t>. Each row links the customer, their policy, details of an accident/incident, the associated claims, and whether fraud was flagged or not.</a:t>
            </a:r>
            <a:endParaRPr lang="en-US" altLang="en-US" sz="2000" dirty="0">
              <a:latin typeface="Arial" panose="020B0604020202020204" pitchFamily="34" charset="0"/>
              <a:cs typeface="Arial" panose="020B0604020202020204" pitchFamily="34" charset="0"/>
            </a:endParaRPr>
          </a:p>
          <a:p>
            <a:pPr marL="0" lvl="0" indent="0" algn="just" eaLnBrk="0" fontAlgn="base" hangingPunct="0">
              <a:spcBef>
                <a:spcPct val="0"/>
              </a:spcBef>
              <a:spcAft>
                <a:spcPts val="600"/>
              </a:spcAft>
              <a:buNone/>
            </a:pPr>
            <a:endParaRPr lang="en-US" altLang="en-US" sz="2000" dirty="0">
              <a:latin typeface="Arial" panose="020B0604020202020204" pitchFamily="34" charset="0"/>
              <a:cs typeface="Arial" panose="020B0604020202020204" pitchFamily="34" charset="0"/>
            </a:endParaRPr>
          </a:p>
          <a:p>
            <a:pPr algn="just"/>
            <a:endParaRPr lang="en-IN" sz="2000" dirty="0"/>
          </a:p>
        </p:txBody>
      </p:sp>
    </p:spTree>
    <p:extLst>
      <p:ext uri="{BB962C8B-B14F-4D97-AF65-F5344CB8AC3E}">
        <p14:creationId xmlns:p14="http://schemas.microsoft.com/office/powerpoint/2010/main" val="782449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D3FED-1D89-4F7B-5D7F-7C614CF5D72C}"/>
              </a:ext>
            </a:extLst>
          </p:cNvPr>
          <p:cNvSpPr>
            <a:spLocks noGrp="1"/>
          </p:cNvSpPr>
          <p:nvPr>
            <p:ph type="title"/>
          </p:nvPr>
        </p:nvSpPr>
        <p:spPr>
          <a:xfrm>
            <a:off x="838200" y="365125"/>
            <a:ext cx="11353800" cy="1325563"/>
          </a:xfrm>
        </p:spPr>
        <p:txBody>
          <a:bodyPr/>
          <a:lstStyle/>
          <a:p>
            <a:r>
              <a:rPr lang="en-US" b="1" dirty="0"/>
              <a:t>Business Context &amp; Key Business Questions</a:t>
            </a:r>
            <a:endParaRPr lang="en-IN" dirty="0"/>
          </a:p>
        </p:txBody>
      </p:sp>
      <p:sp>
        <p:nvSpPr>
          <p:cNvPr id="3" name="Content Placeholder 2">
            <a:extLst>
              <a:ext uri="{FF2B5EF4-FFF2-40B4-BE49-F238E27FC236}">
                <a16:creationId xmlns:a16="http://schemas.microsoft.com/office/drawing/2014/main" id="{CCEA5FFD-9B38-204E-A337-3424FF35A710}"/>
              </a:ext>
            </a:extLst>
          </p:cNvPr>
          <p:cNvSpPr>
            <a:spLocks noGrp="1"/>
          </p:cNvSpPr>
          <p:nvPr>
            <p:ph idx="1"/>
          </p:nvPr>
        </p:nvSpPr>
        <p:spPr/>
        <p:txBody>
          <a:bodyPr>
            <a:normAutofit/>
          </a:bodyPr>
          <a:lstStyle/>
          <a:p>
            <a:pPr marL="0" indent="0" algn="just">
              <a:buNone/>
            </a:pPr>
            <a:r>
              <a:rPr lang="en-IN" sz="2000" b="1" dirty="0"/>
              <a:t>Context</a:t>
            </a:r>
            <a:r>
              <a:rPr lang="en-IN" sz="2000" dirty="0"/>
              <a:t>: Insurance companies face significant financial losses due to fraudulent claims. BI dashboards can help stakeholders monitor claims, detect patterns in fraud, and optimize premiums/deductibles.</a:t>
            </a:r>
          </a:p>
          <a:p>
            <a:pPr marL="0" indent="0" algn="just">
              <a:buNone/>
            </a:pPr>
            <a:endParaRPr lang="en-IN" sz="2000" dirty="0"/>
          </a:p>
          <a:p>
            <a:pPr marL="0" indent="0" algn="just">
              <a:buNone/>
            </a:pPr>
            <a:r>
              <a:rPr lang="en-IN" sz="2000" b="1" dirty="0"/>
              <a:t>Key Business Questions</a:t>
            </a:r>
            <a:r>
              <a:rPr lang="en-IN" sz="2000" dirty="0"/>
              <a:t>:</a:t>
            </a:r>
          </a:p>
          <a:p>
            <a:pPr marL="514350" indent="-514350" algn="just">
              <a:buFont typeface="+mj-lt"/>
              <a:buAutoNum type="arabicPeriod"/>
            </a:pPr>
            <a:r>
              <a:rPr lang="en-US" sz="2000" dirty="0"/>
              <a:t>What customer profiles, policy types, and incident characteristics are most </a:t>
            </a:r>
            <a:r>
              <a:rPr lang="en-US" sz="2000" b="1" dirty="0"/>
              <a:t>indicative</a:t>
            </a:r>
            <a:r>
              <a:rPr lang="en-US" sz="2000" dirty="0"/>
              <a:t> of fraudulent claims?</a:t>
            </a:r>
          </a:p>
          <a:p>
            <a:pPr marL="514350" indent="-514350" algn="just">
              <a:buFont typeface="+mj-lt"/>
              <a:buAutoNum type="arabicPeriod"/>
            </a:pPr>
            <a:r>
              <a:rPr lang="en-US" sz="2000" dirty="0"/>
              <a:t>Where are the </a:t>
            </a:r>
            <a:r>
              <a:rPr lang="en-US" sz="2000" b="1" dirty="0"/>
              <a:t>geographic or time-based bottlenecks</a:t>
            </a:r>
            <a:r>
              <a:rPr lang="en-US" sz="2000" dirty="0"/>
              <a:t> in the claims process, and how can we reduce claim cycle time and costs (e.g., analyzing incident city and incident hour of the day)?</a:t>
            </a:r>
          </a:p>
          <a:p>
            <a:pPr marL="514350" indent="-514350" algn="just">
              <a:buFont typeface="+mj-lt"/>
              <a:buAutoNum type="arabicPeriod"/>
            </a:pPr>
            <a:r>
              <a:rPr lang="en-US" sz="2000" dirty="0"/>
              <a:t>Are people with </a:t>
            </a:r>
            <a:r>
              <a:rPr lang="en-US" sz="2000" b="1" dirty="0"/>
              <a:t>higher education</a:t>
            </a:r>
            <a:r>
              <a:rPr lang="en-US" sz="2000" dirty="0"/>
              <a:t> levels less likely to report insurance fraud?</a:t>
            </a:r>
          </a:p>
          <a:p>
            <a:pPr marL="514350" indent="-514350" algn="just">
              <a:buFont typeface="+mj-lt"/>
              <a:buAutoNum type="arabicPeriod"/>
            </a:pPr>
            <a:r>
              <a:rPr lang="en-US" sz="2000" dirty="0"/>
              <a:t>Do </a:t>
            </a:r>
            <a:r>
              <a:rPr lang="en-US" sz="2000" b="1" dirty="0"/>
              <a:t>claim amounts</a:t>
            </a:r>
            <a:r>
              <a:rPr lang="en-US" sz="2000" dirty="0"/>
              <a:t> (injury, property, vehicle) correlate with higher fraud likelihood?</a:t>
            </a:r>
            <a:endParaRPr lang="en-IN" sz="2000" dirty="0"/>
          </a:p>
          <a:p>
            <a:pPr algn="just"/>
            <a:endParaRPr lang="en-IN" sz="2000" dirty="0"/>
          </a:p>
        </p:txBody>
      </p:sp>
    </p:spTree>
    <p:extLst>
      <p:ext uri="{BB962C8B-B14F-4D97-AF65-F5344CB8AC3E}">
        <p14:creationId xmlns:p14="http://schemas.microsoft.com/office/powerpoint/2010/main" val="4041972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401C8-396D-82D1-4ED5-10B041771700}"/>
              </a:ext>
            </a:extLst>
          </p:cNvPr>
          <p:cNvSpPr>
            <a:spLocks noGrp="1"/>
          </p:cNvSpPr>
          <p:nvPr>
            <p:ph type="title"/>
          </p:nvPr>
        </p:nvSpPr>
        <p:spPr>
          <a:xfrm>
            <a:off x="511628" y="288925"/>
            <a:ext cx="10515600" cy="1325563"/>
          </a:xfrm>
        </p:spPr>
        <p:txBody>
          <a:bodyPr/>
          <a:lstStyle/>
          <a:p>
            <a:pPr algn="ctr"/>
            <a:r>
              <a:rPr lang="en-IN" b="1" dirty="0"/>
              <a:t>Metrics &amp; Dimensions</a:t>
            </a:r>
          </a:p>
        </p:txBody>
      </p:sp>
      <p:sp>
        <p:nvSpPr>
          <p:cNvPr id="3" name="Content Placeholder 2">
            <a:extLst>
              <a:ext uri="{FF2B5EF4-FFF2-40B4-BE49-F238E27FC236}">
                <a16:creationId xmlns:a16="http://schemas.microsoft.com/office/drawing/2014/main" id="{E7061080-4F0D-1ABC-2615-2920EBD16CD4}"/>
              </a:ext>
            </a:extLst>
          </p:cNvPr>
          <p:cNvSpPr>
            <a:spLocks noGrp="1"/>
          </p:cNvSpPr>
          <p:nvPr>
            <p:ph idx="1"/>
          </p:nvPr>
        </p:nvSpPr>
        <p:spPr>
          <a:xfrm>
            <a:off x="163286" y="2146756"/>
            <a:ext cx="5802086" cy="4351338"/>
          </a:xfrm>
        </p:spPr>
        <p:txBody>
          <a:bodyPr>
            <a:normAutofit/>
          </a:bodyPr>
          <a:lstStyle/>
          <a:p>
            <a:pPr marL="0" indent="0" algn="ctr">
              <a:buNone/>
            </a:pPr>
            <a:r>
              <a:rPr lang="en-IN" sz="2000" b="1" dirty="0"/>
              <a:t>Metrics (Quantitative KPIs)</a:t>
            </a:r>
          </a:p>
          <a:p>
            <a:pPr>
              <a:buFont typeface="Wingdings" panose="05000000000000000000" pitchFamily="2" charset="2"/>
              <a:buChar char="Ø"/>
            </a:pPr>
            <a:r>
              <a:rPr lang="en-IN" sz="2000" b="1" dirty="0"/>
              <a:t> Total Claims</a:t>
            </a:r>
            <a:r>
              <a:rPr lang="en-IN" sz="2000" dirty="0"/>
              <a:t> = Number of claims </a:t>
            </a:r>
          </a:p>
          <a:p>
            <a:pPr>
              <a:buFont typeface="Wingdings" panose="05000000000000000000" pitchFamily="2" charset="2"/>
              <a:buChar char="Ø"/>
            </a:pPr>
            <a:r>
              <a:rPr lang="en-US" sz="2000" b="1" dirty="0"/>
              <a:t> Fraudulent Claims</a:t>
            </a:r>
            <a:r>
              <a:rPr lang="en-US" sz="2000" dirty="0"/>
              <a:t> = Number of fake claims</a:t>
            </a:r>
            <a:endParaRPr lang="en-IN" sz="2000" b="1" dirty="0"/>
          </a:p>
          <a:p>
            <a:pPr>
              <a:buFont typeface="Wingdings" panose="05000000000000000000" pitchFamily="2" charset="2"/>
              <a:buChar char="Ø"/>
            </a:pPr>
            <a:r>
              <a:rPr lang="en-IN" sz="2000" b="1" dirty="0"/>
              <a:t> Fraud Rate (%)</a:t>
            </a:r>
            <a:r>
              <a:rPr lang="en-IN" sz="2000" dirty="0"/>
              <a:t> = (# Fraudulent Claims ÷ Total Claims) × 100</a:t>
            </a:r>
          </a:p>
          <a:p>
            <a:pPr>
              <a:buFont typeface="Wingdings" panose="05000000000000000000" pitchFamily="2" charset="2"/>
              <a:buChar char="Ø"/>
            </a:pPr>
            <a:r>
              <a:rPr lang="en-US" sz="2000" b="1" dirty="0"/>
              <a:t> Total &amp; Avg. Claim Amounts</a:t>
            </a:r>
            <a:r>
              <a:rPr lang="en-US" sz="2000" dirty="0"/>
              <a:t> (Injury, Property, Vehicle, Total)</a:t>
            </a:r>
          </a:p>
        </p:txBody>
      </p:sp>
      <p:sp>
        <p:nvSpPr>
          <p:cNvPr id="4" name="Content Placeholder 2">
            <a:extLst>
              <a:ext uri="{FF2B5EF4-FFF2-40B4-BE49-F238E27FC236}">
                <a16:creationId xmlns:a16="http://schemas.microsoft.com/office/drawing/2014/main" id="{9AAEC09E-64C4-0880-6C92-2B2969B4B785}"/>
              </a:ext>
            </a:extLst>
          </p:cNvPr>
          <p:cNvSpPr txBox="1">
            <a:spLocks/>
          </p:cNvSpPr>
          <p:nvPr/>
        </p:nvSpPr>
        <p:spPr>
          <a:xfrm>
            <a:off x="6226628" y="2146756"/>
            <a:ext cx="580208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2000" b="1" dirty="0"/>
              <a:t>Dimensions (Qualitative)</a:t>
            </a:r>
          </a:p>
          <a:p>
            <a:pPr>
              <a:buFont typeface="Wingdings" panose="05000000000000000000" pitchFamily="2" charset="2"/>
              <a:buChar char="Ø"/>
            </a:pPr>
            <a:r>
              <a:rPr lang="en-US" sz="2000" b="1" dirty="0"/>
              <a:t> Customer Profiles</a:t>
            </a:r>
            <a:r>
              <a:rPr lang="en-US" sz="2000" dirty="0"/>
              <a:t>: Age, Gender, Education Level, Occupation</a:t>
            </a:r>
          </a:p>
          <a:p>
            <a:pPr>
              <a:buFont typeface="Wingdings" panose="05000000000000000000" pitchFamily="2" charset="2"/>
              <a:buChar char="Ø"/>
            </a:pPr>
            <a:r>
              <a:rPr lang="en-US" sz="2000" b="1" dirty="0"/>
              <a:t> Incident Characteristics</a:t>
            </a:r>
            <a:r>
              <a:rPr lang="en-US" sz="2000" dirty="0"/>
              <a:t>: Type, Severity, Hour of Day</a:t>
            </a:r>
          </a:p>
          <a:p>
            <a:pPr>
              <a:buFont typeface="Wingdings" panose="05000000000000000000" pitchFamily="2" charset="2"/>
              <a:buChar char="Ø"/>
            </a:pPr>
            <a:r>
              <a:rPr lang="en-US" sz="2000" b="1" dirty="0"/>
              <a:t> Geographic/Time</a:t>
            </a:r>
            <a:r>
              <a:rPr lang="en-US" sz="2000" dirty="0"/>
              <a:t>: Incident State, Incident City, Hour of Incident</a:t>
            </a:r>
          </a:p>
          <a:p>
            <a:pPr>
              <a:buFont typeface="Wingdings" panose="05000000000000000000" pitchFamily="2" charset="2"/>
              <a:buChar char="Ø"/>
            </a:pPr>
            <a:r>
              <a:rPr lang="en-US" sz="2000" b="1" dirty="0"/>
              <a:t> Fraud Label</a:t>
            </a:r>
            <a:r>
              <a:rPr lang="en-US" sz="2000" dirty="0"/>
              <a:t>: Fraud reported (Y/N, the key classification target)</a:t>
            </a:r>
          </a:p>
        </p:txBody>
      </p:sp>
      <p:cxnSp>
        <p:nvCxnSpPr>
          <p:cNvPr id="6" name="Straight Connector 5">
            <a:extLst>
              <a:ext uri="{FF2B5EF4-FFF2-40B4-BE49-F238E27FC236}">
                <a16:creationId xmlns:a16="http://schemas.microsoft.com/office/drawing/2014/main" id="{A03CBC6A-F48A-DBED-EFB1-C25876BD3288}"/>
              </a:ext>
            </a:extLst>
          </p:cNvPr>
          <p:cNvCxnSpPr/>
          <p:nvPr/>
        </p:nvCxnSpPr>
        <p:spPr>
          <a:xfrm>
            <a:off x="5965373" y="1647146"/>
            <a:ext cx="0" cy="4125686"/>
          </a:xfrm>
          <a:prstGeom prst="line">
            <a:avLst/>
          </a:prstGeom>
          <a:ln w="28575"/>
          <a:effectLst>
            <a:outerShdw blurRad="50800" dist="38100" algn="l" rotWithShape="0">
              <a:prstClr val="black">
                <a:alpha val="40000"/>
              </a:prstClr>
            </a:outerShdw>
          </a:effec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58011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64A04-4A16-CA92-A367-256AC9FE4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15298-637A-AD30-42B9-381E8B677064}"/>
              </a:ext>
            </a:extLst>
          </p:cNvPr>
          <p:cNvSpPr>
            <a:spLocks noGrp="1"/>
          </p:cNvSpPr>
          <p:nvPr>
            <p:ph type="title"/>
          </p:nvPr>
        </p:nvSpPr>
        <p:spPr>
          <a:xfrm>
            <a:off x="838200" y="144008"/>
            <a:ext cx="10515600" cy="1325563"/>
          </a:xfrm>
        </p:spPr>
        <p:txBody>
          <a:bodyPr/>
          <a:lstStyle/>
          <a:p>
            <a:pPr algn="ctr"/>
            <a:r>
              <a:rPr lang="en-IN" b="1" dirty="0"/>
              <a:t>Insights</a:t>
            </a:r>
          </a:p>
        </p:txBody>
      </p:sp>
      <p:sp>
        <p:nvSpPr>
          <p:cNvPr id="3" name="Content Placeholder 2">
            <a:extLst>
              <a:ext uri="{FF2B5EF4-FFF2-40B4-BE49-F238E27FC236}">
                <a16:creationId xmlns:a16="http://schemas.microsoft.com/office/drawing/2014/main" id="{B666409A-AB8D-DA47-7B35-587FA5302755}"/>
              </a:ext>
            </a:extLst>
          </p:cNvPr>
          <p:cNvSpPr>
            <a:spLocks noGrp="1"/>
          </p:cNvSpPr>
          <p:nvPr>
            <p:ph idx="1"/>
          </p:nvPr>
        </p:nvSpPr>
        <p:spPr>
          <a:xfrm>
            <a:off x="620486" y="1513121"/>
            <a:ext cx="10733314" cy="4713508"/>
          </a:xfrm>
        </p:spPr>
        <p:txBody>
          <a:bodyPr>
            <a:normAutofit/>
          </a:bodyPr>
          <a:lstStyle/>
          <a:p>
            <a:pPr algn="just">
              <a:lnSpc>
                <a:spcPct val="100000"/>
              </a:lnSpc>
            </a:pPr>
            <a:r>
              <a:rPr lang="en-US" sz="2000" b="1" dirty="0"/>
              <a:t>Geographic Risk</a:t>
            </a:r>
            <a:r>
              <a:rPr lang="en-US" sz="2000" dirty="0"/>
              <a:t>: The map visualization indicates clusters of claims in the Northeastern United States (e.g., near New York, Philadelphia, Toronto, Ottawa).</a:t>
            </a:r>
          </a:p>
          <a:p>
            <a:pPr algn="just">
              <a:lnSpc>
                <a:spcPct val="100000"/>
              </a:lnSpc>
            </a:pPr>
            <a:r>
              <a:rPr lang="en-US" sz="2000" b="1" dirty="0"/>
              <a:t>Fraudulent Claims are Inflated</a:t>
            </a:r>
            <a:r>
              <a:rPr lang="en-US" sz="2000" dirty="0"/>
              <a:t>: Fraudulent claims (Y) have significantly higher average claim payouts across all categories compared to non-fraudulent claims (N).</a:t>
            </a:r>
          </a:p>
          <a:p>
            <a:pPr algn="just">
              <a:lnSpc>
                <a:spcPct val="100000"/>
              </a:lnSpc>
            </a:pPr>
            <a:r>
              <a:rPr lang="en-US" sz="2000" b="1" dirty="0"/>
              <a:t>Vehicle Claim</a:t>
            </a:r>
            <a:r>
              <a:rPr lang="en-US" sz="2000" dirty="0"/>
              <a:t>: The average for fraudulent claims ($43,533.64)</a:t>
            </a:r>
          </a:p>
          <a:p>
            <a:pPr algn="just">
              <a:lnSpc>
                <a:spcPct val="100000"/>
              </a:lnSpc>
            </a:pPr>
            <a:r>
              <a:rPr lang="en-US" sz="2000" b="1" dirty="0"/>
              <a:t>Property Claim</a:t>
            </a:r>
            <a:r>
              <a:rPr lang="en-US" sz="2000" dirty="0"/>
              <a:t>: The average for fraudulent claims ($8,560.12)</a:t>
            </a:r>
          </a:p>
          <a:p>
            <a:pPr algn="just">
              <a:lnSpc>
                <a:spcPct val="100000"/>
              </a:lnSpc>
            </a:pPr>
            <a:r>
              <a:rPr lang="en-US" sz="2000" b="1" dirty="0"/>
              <a:t>Injury Claim: </a:t>
            </a:r>
            <a:r>
              <a:rPr lang="en-US" sz="2000" dirty="0"/>
              <a:t>The average for fraudulent claims ($8,208.34)</a:t>
            </a:r>
          </a:p>
          <a:p>
            <a:pPr algn="just">
              <a:lnSpc>
                <a:spcPct val="100000"/>
              </a:lnSpc>
            </a:pPr>
            <a:r>
              <a:rPr lang="en-US" sz="2000" dirty="0"/>
              <a:t>Claimant with an Executive/Managerial occupation (≈38% fraud rate).</a:t>
            </a:r>
          </a:p>
          <a:p>
            <a:pPr algn="just">
              <a:lnSpc>
                <a:spcPct val="100000"/>
              </a:lnSpc>
            </a:pPr>
            <a:r>
              <a:rPr lang="en-US" sz="2000" b="1" dirty="0"/>
              <a:t>Low-Risk Hours:</a:t>
            </a:r>
            <a:r>
              <a:rPr lang="en-US" sz="2000" dirty="0"/>
              <a:t> The lowest fraud rate occurs at 9 AM (9.30%).</a:t>
            </a:r>
          </a:p>
          <a:p>
            <a:pPr algn="just">
              <a:lnSpc>
                <a:spcPct val="100000"/>
              </a:lnSpc>
            </a:pPr>
            <a:r>
              <a:rPr lang="en-US" sz="2000" dirty="0"/>
              <a:t>Major Damage (over 60% fraud rate).</a:t>
            </a:r>
          </a:p>
          <a:p>
            <a:pPr algn="just">
              <a:lnSpc>
                <a:spcPct val="100000"/>
              </a:lnSpc>
            </a:pPr>
            <a:r>
              <a:rPr lang="en-US" sz="2000" dirty="0"/>
              <a:t>An Incident Hour of 11 AM, 2 PM, or 6 PM (up to 40% fraud rate).</a:t>
            </a:r>
          </a:p>
          <a:p>
            <a:pPr algn="just">
              <a:lnSpc>
                <a:spcPct val="100000"/>
              </a:lnSpc>
            </a:pPr>
            <a:endParaRPr lang="en-IN" sz="2000" dirty="0"/>
          </a:p>
        </p:txBody>
      </p:sp>
    </p:spTree>
    <p:extLst>
      <p:ext uri="{BB962C8B-B14F-4D97-AF65-F5344CB8AC3E}">
        <p14:creationId xmlns:p14="http://schemas.microsoft.com/office/powerpoint/2010/main" val="807233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5FFCB-701E-3396-F2AC-23A583669ED2}"/>
              </a:ext>
            </a:extLst>
          </p:cNvPr>
          <p:cNvSpPr>
            <a:spLocks noGrp="1"/>
          </p:cNvSpPr>
          <p:nvPr>
            <p:ph type="title"/>
          </p:nvPr>
        </p:nvSpPr>
        <p:spPr>
          <a:xfrm>
            <a:off x="838200" y="419555"/>
            <a:ext cx="10515600" cy="1325563"/>
          </a:xfrm>
        </p:spPr>
        <p:txBody>
          <a:bodyPr/>
          <a:lstStyle/>
          <a:p>
            <a:pPr algn="ctr"/>
            <a:r>
              <a:rPr lang="en-IN" b="1" dirty="0"/>
              <a:t>Recommendations</a:t>
            </a:r>
          </a:p>
        </p:txBody>
      </p:sp>
      <p:sp>
        <p:nvSpPr>
          <p:cNvPr id="4" name="Content Placeholder 2">
            <a:extLst>
              <a:ext uri="{FF2B5EF4-FFF2-40B4-BE49-F238E27FC236}">
                <a16:creationId xmlns:a16="http://schemas.microsoft.com/office/drawing/2014/main" id="{2F909AE7-647D-6AB3-EC39-7A69304740C6}"/>
              </a:ext>
            </a:extLst>
          </p:cNvPr>
          <p:cNvSpPr txBox="1">
            <a:spLocks/>
          </p:cNvSpPr>
          <p:nvPr/>
        </p:nvSpPr>
        <p:spPr>
          <a:xfrm>
            <a:off x="498022" y="1390194"/>
            <a:ext cx="11195956" cy="46019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2400" b="1" dirty="0"/>
              <a:t> </a:t>
            </a:r>
          </a:p>
          <a:p>
            <a:pPr algn="just">
              <a:lnSpc>
                <a:spcPct val="150000"/>
              </a:lnSpc>
            </a:pPr>
            <a:r>
              <a:rPr lang="en-US" sz="2400" dirty="0"/>
              <a:t> Immediately flag and assign all claims falling into the top-risk categories to an experienced Special Investigation Unit (SIU) team for immediate, in-depth review.</a:t>
            </a:r>
          </a:p>
          <a:p>
            <a:pPr algn="just">
              <a:lnSpc>
                <a:spcPct val="150000"/>
              </a:lnSpc>
            </a:pPr>
            <a:r>
              <a:rPr lang="en-US" sz="2400" dirty="0"/>
              <a:t>Staff adjusters and external vendors (e.g., tow companies, inspectors) to have faster response times and higher availability during the peak fraud hours (11AM, 2PM, 6PM) as quick verification can often deter staged or exaggerated claims.</a:t>
            </a:r>
            <a:endParaRPr lang="en-IN" sz="2400" dirty="0"/>
          </a:p>
        </p:txBody>
      </p:sp>
    </p:spTree>
    <p:extLst>
      <p:ext uri="{BB962C8B-B14F-4D97-AF65-F5344CB8AC3E}">
        <p14:creationId xmlns:p14="http://schemas.microsoft.com/office/powerpoint/2010/main" val="3971721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CFEE9-8AED-5F2D-E7F7-F2D58FD94285}"/>
              </a:ext>
            </a:extLst>
          </p:cNvPr>
          <p:cNvSpPr>
            <a:spLocks noGrp="1"/>
          </p:cNvSpPr>
          <p:nvPr>
            <p:ph type="title"/>
          </p:nvPr>
        </p:nvSpPr>
        <p:spPr>
          <a:xfrm>
            <a:off x="838199" y="125640"/>
            <a:ext cx="10515600" cy="1325563"/>
          </a:xfrm>
        </p:spPr>
        <p:txBody>
          <a:bodyPr/>
          <a:lstStyle/>
          <a:p>
            <a:pPr algn="ctr"/>
            <a:r>
              <a:rPr lang="en-IN" b="1" dirty="0"/>
              <a:t>Fraud Analytics Layout (for Leadership)</a:t>
            </a:r>
          </a:p>
        </p:txBody>
      </p:sp>
      <p:pic>
        <p:nvPicPr>
          <p:cNvPr id="10" name="Content Placeholder 9" descr="A screenshot of a computer screen&#10;&#10;AI-generated content may be incorrect.">
            <a:extLst>
              <a:ext uri="{FF2B5EF4-FFF2-40B4-BE49-F238E27FC236}">
                <a16:creationId xmlns:a16="http://schemas.microsoft.com/office/drawing/2014/main" id="{C962E946-43D0-516E-A819-F11817827C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1835" y="1259567"/>
            <a:ext cx="9288327" cy="5173889"/>
          </a:xfrm>
        </p:spPr>
      </p:pic>
    </p:spTree>
    <p:extLst>
      <p:ext uri="{BB962C8B-B14F-4D97-AF65-F5344CB8AC3E}">
        <p14:creationId xmlns:p14="http://schemas.microsoft.com/office/powerpoint/2010/main" val="1790972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a graph&#10;&#10;AI-generated content may be incorrect.">
            <a:extLst>
              <a:ext uri="{FF2B5EF4-FFF2-40B4-BE49-F238E27FC236}">
                <a16:creationId xmlns:a16="http://schemas.microsoft.com/office/drawing/2014/main" id="{E8226C1A-B93A-9794-FADC-B2B6326D9E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4033" y="609600"/>
            <a:ext cx="10303934" cy="5795963"/>
          </a:xfrm>
        </p:spPr>
      </p:pic>
    </p:spTree>
    <p:extLst>
      <p:ext uri="{BB962C8B-B14F-4D97-AF65-F5344CB8AC3E}">
        <p14:creationId xmlns:p14="http://schemas.microsoft.com/office/powerpoint/2010/main" val="2506843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descr="A screenshot of a computer screen&#10;&#10;AI-generated content may be incorrect.">
            <a:extLst>
              <a:ext uri="{FF2B5EF4-FFF2-40B4-BE49-F238E27FC236}">
                <a16:creationId xmlns:a16="http://schemas.microsoft.com/office/drawing/2014/main" id="{884E945C-5E9A-C53F-6DDE-3A4EA792F3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4156" y="715246"/>
            <a:ext cx="9689273" cy="5427508"/>
          </a:xfrm>
        </p:spPr>
      </p:pic>
    </p:spTree>
    <p:extLst>
      <p:ext uri="{BB962C8B-B14F-4D97-AF65-F5344CB8AC3E}">
        <p14:creationId xmlns:p14="http://schemas.microsoft.com/office/powerpoint/2010/main" val="34560939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206</TotalTime>
  <Words>714</Words>
  <Application>Microsoft Office PowerPoint</Application>
  <PresentationFormat>Widescreen</PresentationFormat>
  <Paragraphs>60</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Calibri</vt:lpstr>
      <vt:lpstr>Neue Haas Grotesk Text Pro</vt:lpstr>
      <vt:lpstr>Wingdings</vt:lpstr>
      <vt:lpstr>Office Theme</vt:lpstr>
      <vt:lpstr>Auto-Insurance Fraud Dataset Group - 9</vt:lpstr>
      <vt:lpstr>Data Structure</vt:lpstr>
      <vt:lpstr>Business Context &amp; Key Business Questions</vt:lpstr>
      <vt:lpstr>Metrics &amp; Dimensions</vt:lpstr>
      <vt:lpstr>Insights</vt:lpstr>
      <vt:lpstr>Recommendations</vt:lpstr>
      <vt:lpstr>Fraud Analytics Layout (for Leadership)</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Pine apple</dc:creator>
  <cp:lastModifiedBy>Pine apple</cp:lastModifiedBy>
  <cp:revision>14</cp:revision>
  <dcterms:created xsi:type="dcterms:W3CDTF">2025-10-02T13:09:50Z</dcterms:created>
  <dcterms:modified xsi:type="dcterms:W3CDTF">2025-10-02T17:34:46Z</dcterms:modified>
</cp:coreProperties>
</file>